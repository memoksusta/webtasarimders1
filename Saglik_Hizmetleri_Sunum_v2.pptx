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CEVAP / YÖNLENDİRME: Kitaptaki tartışma sorusu: sağlık sistemi, erişilebilir sağlık hizmetleri, çevre koşulları, eğitim ve bilinçlendirme gibi yanıtlar kabul edilebilir.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CEVAP / YÖNLENDİRME: B — Vektörle mücadele çevreye yönelik koruyucu hizmettir.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CEVAP / YÖNLENDİRME: B — Aile Sağlığı Merkezi.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CEVAP / YÖNLENDİRME: B — Beslenme danışmanlığı.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CEVAP / YÖNLENDİRME: Kontrol Noktası: bilinçlendirme kampanyası (sağlığı geliştirme), aşı kampanyası ve izolasyon (koruyucu), ek sağlık personeli ve aile hekimliği/mobil ekipleri güçlendirmek (birinci basamak tedavi edici).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914400"/>
            <a:ext cx="4572000" cy="457200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377440"/>
            <a:ext cx="3657600" cy="3657600"/>
          </a:xfrm>
          <a:prstGeom prst="ellipse">
            <a:avLst/>
          </a:prstGeom>
          <a:solidFill>
            <a:srgbClr val="2F6FD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SAĞLIK HİZMETLERİ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Halk Sağlığı ve Sağlık Hizmetleri • 1. Tema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Bilgisi ve Trafik Kültürü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Neler Var?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25400">
            <a:solidFill>
              <a:srgbClr val="13A8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91640"/>
            <a:ext cx="960120" cy="96012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892808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Koruyucu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606040" y="146304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25400">
            <a:solidFill>
              <a:srgbClr val="2F6F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63240" y="1691640"/>
            <a:ext cx="960120" cy="960120"/>
          </a:xfrm>
          <a:prstGeom prst="ellipse">
            <a:avLst/>
          </a:prstGeom>
          <a:solidFill>
            <a:srgbClr val="2F6FD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89280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0604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 Edici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663440" y="146304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25400">
            <a:solidFill>
              <a:srgbClr val="8A5C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20640" y="1691640"/>
            <a:ext cx="960120" cy="960120"/>
          </a:xfrm>
          <a:prstGeom prst="ellipse">
            <a:avLst/>
          </a:prstGeom>
          <a:solidFill>
            <a:srgbClr val="8A5CD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89280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6344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5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4754880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Rehabilitasyon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720840" y="146304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78040" y="1691640"/>
            <a:ext cx="960120" cy="96012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1892808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72084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6812280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Sağlığın Geliştirilmesi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Halk Sağlığı Nedir?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Toplumun sağlık düzeyini koruma ve geliştirme süreci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bireysel çabalarla değil, etkili bir halk sağlığı sistemi ve erişilebilir sağlık hizmetleriyle mümkündür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Çevresel koşullar, bulaşıcı hastalıklar, beslenme, barınma ve eğitim sağlığı etkiler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yıl "Halk Sağlığı Haftası" etkinlikleri düzenlenir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2834640" cy="3291840"/>
          </a:xfrm>
          <a:prstGeom prst="roundRect">
            <a:avLst>
              <a:gd name="adj" fmla="val 6452"/>
            </a:avLst>
          </a:prstGeom>
          <a:solidFill>
            <a:srgbClr val="0B2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hizmetleri bireyi hastalıktan korur, erken tanı ve tedaviye ulaştırır, yaşam kalitesini artırır.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TARTIŞALIM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743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bireysel çabaların yeterli olmadığı durumlarda toplum sağlığını güçlendirmek için öncelik verilmesi gereken önemli faktör nedir?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Fikrinizi sınıf arkadaşlarınızla paylaşın ve tartışın.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Hizmeti Nedir?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 ve toplum sağlığını korumak ve geliştirmek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Hastalıkları teşhis ve tedavi etmek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Hastaları rehabilite etmek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amaçlarla sunulan profesyonel hizmetlerin tümüdür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Kişinin fiziksel, zihinsel ve sosyal sağlığını iyileştirmeyi hedefler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2834640" cy="3291840"/>
          </a:xfrm>
          <a:prstGeom prst="roundRect">
            <a:avLst>
              <a:gd name="adj" fmla="val 6452"/>
            </a:avLst>
          </a:prstGeom>
          <a:solidFill>
            <a:srgbClr val="0B2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Hizmetler çeşitli uzmanlık alanlarında verilir.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Hizmetlerinin Sınıflandırılması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2377440" y="2148840"/>
            <a:ext cx="1280160" cy="9144"/>
          </a:xfrm>
          <a:prstGeom prst="line">
            <a:avLst/>
          </a:prstGeom>
          <a:noFill/>
          <a:ln w="25400">
            <a:solidFill>
              <a:srgbClr val="B0C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2148840"/>
            <a:ext cx="4389120" cy="9144"/>
          </a:xfrm>
          <a:prstGeom prst="line">
            <a:avLst/>
          </a:prstGeom>
          <a:noFill/>
          <a:ln w="25400">
            <a:solidFill>
              <a:srgbClr val="B0C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611880"/>
            <a:ext cx="1280160" cy="9144"/>
          </a:xfrm>
          <a:prstGeom prst="line">
            <a:avLst/>
          </a:prstGeom>
          <a:noFill/>
          <a:ln w="25400">
            <a:solidFill>
              <a:srgbClr val="B0C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3611880"/>
            <a:ext cx="4389120" cy="9144"/>
          </a:xfrm>
          <a:prstGeom prst="line">
            <a:avLst/>
          </a:prstGeom>
          <a:noFill/>
          <a:ln w="25400">
            <a:solidFill>
              <a:srgbClr val="B0C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011680"/>
            <a:ext cx="2560320" cy="1645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20116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SAĞLIK HİZMETLERİ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137160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1750">
            <a:solidFill>
              <a:srgbClr val="13A89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19072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71600" y="14630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Koruyucu Sağlık Hizmetleri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137160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1750">
            <a:solidFill>
              <a:srgbClr val="F39C1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19072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40880" y="14630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Sağlığın Geliştirilmesi Hizmetleri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320040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1750">
            <a:solidFill>
              <a:srgbClr val="8A5CD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4787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71600" y="32918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Rehabilitasyon Hizmetleri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09360" y="320040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1750">
            <a:solidFill>
              <a:srgbClr val="2F6FD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54787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32918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 Edici Sağlık Hizmetleri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 1.1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A8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548640"/>
            <a:ext cx="3291840" cy="3291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Koruyucu Sağlık Hizmetleri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Hastalıklar ortaya çıkmadan önlenir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Koruyucu Sağlık Hizmetleri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Hastalıkların ortaya çıkmadan önlenmesini hedefleyen planlı çalışmalar bütünü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 koşullarının iyileştirilmesi, beslenme sorunlarının giderilmesi, bulaşıcı hastalıkların azaltılması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Bilgilendirici ve önleyici hizmetlerdir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Bakanlığı tarafından tüm bireylere koşulsuz sağlanır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2834640" cy="3291840"/>
          </a:xfrm>
          <a:prstGeom prst="roundRect">
            <a:avLst>
              <a:gd name="adj" fmla="val 6452"/>
            </a:avLst>
          </a:prstGeom>
          <a:solidFill>
            <a:srgbClr val="13A89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Koruyucu hizmetler ikiye ayrılır: çevreye yönelik ve bireye yönelik.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Çevreye Yönelik Koruyucu Hizmetler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 mühendisi, kimyager, veteriner hekim, gıda mühendisi gibi uzmanlar yürütür.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93976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 su ve güvenli gıda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0604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İçme suyu ve gıda koşullarının sağlanması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09397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05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Hava kalitesi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60604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Kirliliğe karşı önlemler alınması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96596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9397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037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ses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60604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Gürültünün sağlık etkilerini azaltan düzenlemeler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31470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349758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62559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34975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Vektörle mücadele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13766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Sivrisinek, fare gibi hastalık taşıyıcılarıyla mücadele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291840" y="331470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474720" y="349758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62559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160520" y="34975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Atık yönetimi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413766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Atık yönetimi ve doğal çevrenin korunması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Bireye Yönelik Koruyucu Hizmetler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kişiye sunulur, genellikle sağlık çalışanları yürütür.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93976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Aşılama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0604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Bulaşıcı hastalıklara karşı bağışıklık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09397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05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ve çocuk sağlığı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60604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Sağlıklı nesillerin yetişmesi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96596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9397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037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teşhis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60604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Hastalıkların erken tespiti ve zamanında müdahale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31470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349758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62559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34975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Psikolojik danışmanlık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13766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 sağlığının korunması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291840" y="331470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474720" y="349758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62559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160520" y="34975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eğitimi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413766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Beslenme, kişisel temizlik, ağız ve diş sağlığı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Teşhis ve Tarama Programları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 belirti vermeden ya da başlangıç aşamasında yakalanır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 daha etkili ve başarılı olur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Komplikasyon riski ve sağlık harcamaları azalır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Toplum temelli tarama programları kanser gibi kronik hastalıkların erken tespitini sağlar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Ölüm oranlarının azalmasına katkı sunar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2834640" cy="3291840"/>
          </a:xfrm>
          <a:prstGeom prst="roundRect">
            <a:avLst>
              <a:gd name="adj" fmla="val 6452"/>
            </a:avLst>
          </a:prstGeom>
          <a:solidFill>
            <a:srgbClr val="13A89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Tarama, bireyin yanında toplumdaki hastalık yaygınlığını da azaltır.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 Sağlığı ve Evlilik Öncesi Tarama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 sağlığı taramaları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4884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Görme, işitme, diş sağlığı ve gelişim durumu değerlendirilir; aşı ve büyüme kontrolleri yapılır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508760"/>
            <a:ext cx="548640" cy="548640"/>
          </a:xfrm>
          <a:prstGeom prst="ellipse">
            <a:avLst/>
          </a:prstGeom>
          <a:solidFill>
            <a:srgbClr val="13A89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6367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Evlilik öncesi SMA taramaları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214884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Musküler Atrofi taşıyıcılığı belirlenir; çiftler bilinçli karar alır, gerekirse genetik danışmanlık alır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ZAMANI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743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Aşağıdakilerden hangisi çevreye yönelik koruyucu sağlık hizmetidir?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80720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807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Okullarda görme taraması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265176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280720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2807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Sivrisinek ve fare ile mücadele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81304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703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Evlilik öncesi SMA taraması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63440" y="36576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00600" y="381304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0060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3703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Beslenme danışmanlığı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548640"/>
            <a:ext cx="3291840" cy="3291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 Edici Sağlık Hizmetleri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Sağlığın yeniden kazanılması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F6FD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 Edici Sağlık Hizmetleri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2F6FD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 ya da yaralanma sonrası sağlığın yeniden kazanılmasına yönelik müdahaleler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Bireyin iyileşme sürecini destekleyen profesyonel sağlık uygulamaları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Genellikle üç temel düzeyde sunulur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2834640" cy="3291840"/>
          </a:xfrm>
          <a:prstGeom prst="roundRect">
            <a:avLst>
              <a:gd name="adj" fmla="val 6452"/>
            </a:avLst>
          </a:prstGeom>
          <a:solidFill>
            <a:srgbClr val="2F6FD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Birinci, ikinci ve üçüncü basamak.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F6FD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 Edici Hizmetlerin Üç Düzeyi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2F6FD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011680" cy="914400"/>
          </a:xfrm>
          <a:prstGeom prst="homePlate">
            <a:avLst/>
          </a:prstGeom>
          <a:solidFill>
            <a:srgbClr val="FF9A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Basamak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9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1371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Sağlığı Merkezleri, Toplum Sağlığı Merkezleri, Verem Savaş Dispanserleri, 112, KETEM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2514600"/>
            <a:ext cx="2011680" cy="914400"/>
          </a:xfrm>
          <a:prstGeom prst="homePlate">
            <a:avLst/>
          </a:prstGeom>
          <a:solidFill>
            <a:srgbClr val="F6BC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Basamak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74720" y="251460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6BC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514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Devlet hastaneleri ve özel hastaneler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3657600"/>
            <a:ext cx="2011680" cy="914400"/>
          </a:xfrm>
          <a:prstGeom prst="homePlate">
            <a:avLst/>
          </a:prstGeom>
          <a:solidFill>
            <a:srgbClr val="F9D7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03120" y="3657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Basamak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06240" y="36576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9D7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3657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Üniversite, şehir, eğitim ve araştırma, dal hastaneleri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 1.2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F6FD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Basamak Sağlık Hizmetleri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2F6FD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Hastalıkların erken tanısı, ayakta tedavi, yatış gerektirmeyen durumlar, önleyici ve yönlendirici uygulamalar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2F6FD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93976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Sağlığı Merkezleri ve Aile Hekimliği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2F6FD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0939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605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Toplum Sağlığı Merkezleri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965960"/>
            <a:ext cx="548640" cy="548640"/>
          </a:xfrm>
          <a:prstGeom prst="ellipse">
            <a:avLst/>
          </a:prstGeom>
          <a:solidFill>
            <a:srgbClr val="2F6FD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939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Verem Savaş Dispanserleri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31470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3497580"/>
            <a:ext cx="548640" cy="548640"/>
          </a:xfrm>
          <a:prstGeom prst="ellipse">
            <a:avLst/>
          </a:prstGeom>
          <a:solidFill>
            <a:srgbClr val="2F6FD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62559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4975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Acil Sağlık Hizmetleri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3291840" y="331470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474720" y="3497580"/>
            <a:ext cx="548640" cy="548640"/>
          </a:xfrm>
          <a:prstGeom prst="ellipse">
            <a:avLst/>
          </a:prstGeom>
          <a:solidFill>
            <a:srgbClr val="2F6FD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625596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160520" y="34975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F6FD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 3. Basamak Hizmetler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2F6FD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2F6FD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Basamak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4884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Devlet ve özel hastaneler. Birinci basamakta çözülemeyen, daha ileri değerlendirme gerektiren hastalıklar. Yan dal uzmanlığı ve ileri teknolojik donanım gerekmez.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508760"/>
            <a:ext cx="548640" cy="548640"/>
          </a:xfrm>
          <a:prstGeom prst="ellipse">
            <a:avLst/>
          </a:prstGeom>
          <a:solidFill>
            <a:srgbClr val="2F6FD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6367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Basamak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214884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Üniversite, şehir, eğitim ve araştırma, dal hastaneleri. İleri teknoloji, uzmanlık ve detaylı tetkik gerektiren karmaşık vakalar.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ZAMANI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743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Aşağıdakilerden hangisi 1. basamak sağlık hizmeti sunan kuruluşlardandır?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80720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807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Üniversite hastanesi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265176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280720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2807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Sağlığı Merkezi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81304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703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 araştırma hastanesi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63440" y="36576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00600" y="381304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0060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3703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Göğüs hastalıkları dal hastanesi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8A5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548640"/>
            <a:ext cx="3291840" cy="3291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Rehabilitasyon Hizmetleri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yaşama yeniden uyum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8A5C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Rehabilitasyon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8A5C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Doğuştan gelen sağlık sorunları, hastalıklar ya da kazalar sonrası oluşan fiziksel kayıpları azaltmayı veya gidermeyi amaçlar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 tedavi: kas ve iskelet sistemi işlevlerinin yeniden kazanılması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 ve ortez desteği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Komplikasyon yönetimi: hekim ve hemşirelerin ekip bakımı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2834640" cy="3291840"/>
          </a:xfrm>
          <a:prstGeom prst="roundRect">
            <a:avLst>
              <a:gd name="adj" fmla="val 6452"/>
            </a:avLst>
          </a:prstGeom>
          <a:solidFill>
            <a:srgbClr val="8A5CD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bireyin bedensel yetilerini geri kazanması ve günlük yaşamda bağımsız olması.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8A5C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Rehabilitasyon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8A5C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hizmet uzmanları ve psikologlar yürütür.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8A5CD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93976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olanakları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0604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Yeteneğe ve ihtiyaca uygun işe yönlendirme, çalışma yaşamına uyum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78308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8A5CD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09397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05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merkezleri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60604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Yaşlı ve engelli bireylere sosyal ve fiziksel destek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78308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965960"/>
            <a:ext cx="548640" cy="548640"/>
          </a:xfrm>
          <a:prstGeom prst="ellipse">
            <a:avLst/>
          </a:prstGeom>
          <a:solidFill>
            <a:srgbClr val="8A5CD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9397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037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Huzurevi uyumu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60604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Huzurevlerine yerleşme sürecinde danışmanlık ve uyum desteği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8A5C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Robotik Rehabilitasyon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8A5C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yardımlı yürüme cihazı, hastanın vücut ağırlığını askı-makara sistemiyle azaltır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Robotik parçalar her iki bacağa takılarak yürüme hareketini yaptırır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görsel ve işitsel uyarı verir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güçlenmesi, kan dolaşımı, sindirim ve boşaltım sistemlerine yardımcı olur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2834640" cy="3291840"/>
          </a:xfrm>
          <a:prstGeom prst="roundRect">
            <a:avLst>
              <a:gd name="adj" fmla="val 6452"/>
            </a:avLst>
          </a:prstGeom>
          <a:solidFill>
            <a:srgbClr val="8A5CD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Beyin ve omurilik hasarlı hastalarda kullanılır.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9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548640"/>
            <a:ext cx="3291840" cy="3291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Sağlığın Geliştirilmesi Hizmetleri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Sağlıklı yaşam davranışları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Sağlığın Geliştirilmesi Hizmetleri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zararlı alışkanlıkları ve riskleri azaltmak, toplumun sağlık standartlarını yükseltmek.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93976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Beslenme danışmanlığı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0939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605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Kronik hastalık önleme ve fiziksel aktivite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78308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96596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939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 sağlığı danışmanlığı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31470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349758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62559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4975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 ve ergen danışmanlığı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3291840" y="331470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474720" y="349758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625596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160520" y="34975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Tütün, alkol, madde bağımlılığı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035040" y="3314700"/>
            <a:ext cx="2560320" cy="1348740"/>
          </a:xfrm>
          <a:prstGeom prst="roundRect">
            <a:avLst>
              <a:gd name="adj" fmla="val 8136"/>
            </a:avLst>
          </a:prstGeom>
          <a:solidFill>
            <a:srgbClr val="FFFFFF"/>
          </a:solidFill>
          <a:ln w="12700">
            <a:solidFill>
              <a:srgbClr val="D5E2E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217920" y="349758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62559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3720" y="34975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Ağız ve diş sağlığı eğitimi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ZAMANI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743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Aşağıdakilerden hangisi sağlığın geliştirilmesi hizmetidir?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80720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807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 tedavi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265176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280720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2807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Beslenme danışmanlığı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81304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703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ambulans hizmeti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63440" y="36576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6355F"/>
          </a:solidFill>
          <a:ln w="12700">
            <a:solidFill>
              <a:srgbClr val="3C5F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00600" y="381304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0060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3703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Hastanede yatarak tedavi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Türkiye'den Örnek: KETEM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 Erken Teşhis, Tarama ve Eğitim Merkezleri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Bakanlığına bağlı olarak birçok ilde hizmet verir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Belirtiler ortaya çıkmadan ücretsiz kanser taraması yapılır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tanı tedavi olasılığını artırır, ölüm oranlarını düşürür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Sağlıklı yaşam, beslenme, tütün zararları konusunda toplumu bilinçlendirir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2834640" cy="3291840"/>
          </a:xfrm>
          <a:prstGeom prst="roundRect">
            <a:avLst>
              <a:gd name="adj" fmla="val 6452"/>
            </a:avLst>
          </a:prstGeom>
          <a:solidFill>
            <a:srgbClr val="13A89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"Erken teşhis hayat kurtarır."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ve Sağlık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" cy="5486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bilgi, olası durumlar hakkında fikir ve farkındalık için yararlı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Bireyin tıbbi geçmişini ve yaşam koşullarını her zaman dikkate almayabilir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yorumlama kendi kendine tanıya, tedavinin gecikmesine yol açabilir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verilerin güvenliği de önemlidir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Ciddi belirtilerde mutlaka sağlık kuruluşuna başvurulmalı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2834640" cy="3291840"/>
          </a:xfrm>
          <a:prstGeom prst="roundRect">
            <a:avLst>
              <a:gd name="adj" fmla="val 6452"/>
            </a:avLst>
          </a:prstGeom>
          <a:solidFill>
            <a:srgbClr val="0B2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Nihai karar sağlık profesyonellerine aittir.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NOKTASI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743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Kayrıdağ kasabasında solunum yolu enfeksiyonları arttı. Yetkililer hangi önlemleri almalı? Önlemleri sağlık hizmetlerine göre gruplandırın.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Fikrinizi sınıf arkadaşlarınızla paylaşın ve tartışın.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74520" cy="2377440"/>
          </a:xfrm>
          <a:prstGeom prst="roundRect">
            <a:avLst>
              <a:gd name="adj" fmla="val 7317"/>
            </a:avLst>
          </a:prstGeom>
          <a:solidFill>
            <a:srgbClr val="13A89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002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Koruyucu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8803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 oluşmadan önler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606040" y="1371600"/>
            <a:ext cx="1874520" cy="2377440"/>
          </a:xfrm>
          <a:prstGeom prst="roundRect">
            <a:avLst>
              <a:gd name="adj" fmla="val 7317"/>
            </a:avLst>
          </a:prstGeom>
          <a:solidFill>
            <a:srgbClr val="2F6FD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00200"/>
            <a:ext cx="594360" cy="594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97480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 edici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743200" y="28803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Teşhis ve tedavi eder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1874520" cy="2377440"/>
          </a:xfrm>
          <a:prstGeom prst="roundRect">
            <a:avLst>
              <a:gd name="adj" fmla="val 7317"/>
            </a:avLst>
          </a:prstGeom>
          <a:solidFill>
            <a:srgbClr val="8A5CD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0020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54880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Rehabilitasyon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800600" y="28803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İşlevleri yeniden kazandırır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720840" y="1371600"/>
            <a:ext cx="1874520" cy="2377440"/>
          </a:xfrm>
          <a:prstGeom prst="roundRect">
            <a:avLst>
              <a:gd name="adj" fmla="val 7317"/>
            </a:avLst>
          </a:prstGeom>
          <a:solidFill>
            <a:srgbClr val="F39C1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600200"/>
            <a:ext cx="594360" cy="5943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Sağlığı geliştirme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858000" y="28803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Yaşam tarzını iyileştirir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için teşekkürler!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Sağlık Hizmetleri</dc:title>
  <dc:subject>PptxGenJS Presentation</dc:subject>
  <dc:creator>PptxGenJS</dc:creator>
  <cp:lastModifiedBy>PptxGenJS</cp:lastModifiedBy>
  <cp:revision>1</cp:revision>
  <dcterms:created xsi:type="dcterms:W3CDTF">2026-10-02T05:55:17Z</dcterms:created>
  <dcterms:modified xsi:type="dcterms:W3CDTF">2026-10-02T05:55:17Z</dcterms:modified>
</cp:coreProperties>
</file>